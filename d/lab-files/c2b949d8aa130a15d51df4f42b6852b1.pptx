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F9C5-FC83-F325-863F-04314B1FE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9F360-18B0-2C1B-1AFC-16C0B6123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DE028-562C-5A7D-8E6C-ED48DE70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311D-1E22-A58C-46D9-0932B5F8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B61A4-BC93-93D7-CEEC-03A70221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0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4897-42D6-0608-5A2F-376A8FBD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5E94C-90A3-C955-9C2B-7A02B0D3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AB68-F424-B341-E1A0-C9380CB3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3375-BAF1-F707-9EB3-43EBE0EBE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E8E7E-ECC7-7EED-6D6C-EFFD8A2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0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95E0-C7EF-96F8-28D1-A3E30F65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715F4-83BD-D4CA-FBF0-4047E2430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8E86-04D0-00C5-1440-AC78D735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02DC-8B8D-15CC-42B5-5FE14375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E82EE-55E6-FFE9-8B3E-8D075F33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1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89D0-BF37-343C-2D41-C64575BD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1FFDF-3E5F-1340-6135-54037204B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0D08F-228C-51B0-AABE-ECFD564A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7BBEC-76AB-84DA-C920-9A6F6B11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4C0BF-72EA-C7A1-DEE7-40F4F076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610F1-88A4-6FE8-657E-87E3A8C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1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AF9A-3E86-D667-8C74-20DFBBE5D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39EB3-B96E-6B5E-1BDA-AB512FE7A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BEA50-5094-B905-4476-76917861F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98B1A-363B-F98B-FD53-B80ADAFBC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7A7D6-9F0F-7126-9E21-4E426235B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17F99-55AA-7EFC-5E37-D19AFC7E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5D15E-F21E-7E17-1A1B-791EBFC7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8A2B9-48C2-CDAD-9B59-E9C6A0D0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8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0746-EC8D-4CA1-1998-B8A6E2DC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371B2-92A9-5342-B545-E2639733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75F6D-30E7-FE97-34DF-2CA713B7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4966A-7B8A-D86F-9D9E-2B7142AD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3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9A1B4-E2DB-E34D-2832-0DFE859D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8DBB4-E6F9-6704-C3F2-316360D1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C3491-C67F-B05C-C3DB-217AB144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4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A57E-0EEE-BAE7-F7ED-530C71FA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C916-4C96-694B-399B-0F6BFDCA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DDF44-5832-C453-4BC1-AEFDDF271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B1C04-ECC6-5362-E986-08A9D865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7B282-3FD0-E56E-BED2-0D4AB9A9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403CD-9057-2E56-65D2-D54A0569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3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0D5E-A566-9465-545E-4876E225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3E6B3-E30F-760F-3E8D-77D3A057D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25D05-358F-20F7-90AC-605CBFD65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BBF95-4E11-D635-7448-714F65E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4457F-A151-BE97-6360-A8BE9CF5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0931C-BF0D-0BD9-EF1B-0855F934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3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60328-0DA8-59B0-3B4E-52245AA5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08C1B-A27D-5AE0-09E3-3C7626EF8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175CA-F134-773F-5E9C-9FAAE150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EECD-2CAC-F47D-C938-AA038696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56C5-6B1C-DD15-FBEB-284B093E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A35E4-4E1C-9B97-99E5-466FD05F8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95326-924A-43FB-3675-A5BEAF9FE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421D8-5D12-5CA9-319A-0F7700C9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B08A-0E43-9DBF-9976-7C15C95C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1176-D881-DD63-9951-6410AB8E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20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7C1DC-51FD-0F59-CB44-F10DB339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22E1-3AC6-B59B-8D78-969B4B6CF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C043-6DBE-4750-BAAC-5F09DE3B7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23C58-2D0F-4527-A550-4B6D3016C6D9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F9883-1F83-6340-C462-3BA9BB9BB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DF524-FFB1-6E8F-7616-C70BEE700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C69C4-C116-48C4-930D-2BB27DBDB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6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356B-9B26-2030-1D34-399C39A4A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Policy Ai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A9158-1000-8CB1-DFC7-D86244A3B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15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C900-9496-8D03-93E1-0273A421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تحديد المهمة المطلوبة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88465-B7C9-7A61-3079-57376165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460" y="1595587"/>
            <a:ext cx="10515600" cy="4351338"/>
          </a:xfrm>
        </p:spPr>
        <p:txBody>
          <a:bodyPr/>
          <a:lstStyle/>
          <a:p>
            <a:pPr algn="r" rtl="1"/>
            <a:r>
              <a:rPr lang="ar-SA" dirty="0">
                <a:highlight>
                  <a:srgbClr val="C0C0C0"/>
                </a:highlight>
              </a:rPr>
              <a:t>انتقال </a:t>
            </a:r>
            <a:r>
              <a:rPr lang="en-US" dirty="0">
                <a:highlight>
                  <a:srgbClr val="C0C0C0"/>
                </a:highlight>
              </a:rPr>
              <a:t>policy ai lab</a:t>
            </a:r>
            <a:r>
              <a:rPr lang="ar-SA" dirty="0">
                <a:highlight>
                  <a:srgbClr val="C0C0C0"/>
                </a:highlight>
              </a:rPr>
              <a:t> إلى المركز ( من وحدة مستشاري معالي الوزير) </a:t>
            </a:r>
          </a:p>
          <a:p>
            <a:pPr algn="r" rtl="1"/>
            <a:r>
              <a:rPr lang="ar-SA" dirty="0"/>
              <a:t>ماهي الوثائق التي تم استلامها؟</a:t>
            </a:r>
          </a:p>
          <a:p>
            <a:pPr lvl="1" algn="r" rtl="1"/>
            <a:r>
              <a:rPr lang="ar-SA" b="1" dirty="0"/>
              <a:t>(</a:t>
            </a:r>
            <a:r>
              <a:rPr lang="en-US" b="1" dirty="0"/>
              <a:t>20250506_MOMAH_Policy making framework_vF.pdf</a:t>
            </a:r>
            <a:r>
              <a:rPr lang="ar-SA" b="1" dirty="0"/>
              <a:t>) </a:t>
            </a:r>
            <a:r>
              <a:rPr lang="en-US" b="1" dirty="0"/>
              <a:t>BCG</a:t>
            </a:r>
            <a:endParaRPr lang="ar-SA" b="1" dirty="0"/>
          </a:p>
          <a:p>
            <a:pPr lvl="2" algn="r" rtl="1"/>
            <a:r>
              <a:rPr lang="ar-SA" dirty="0"/>
              <a:t>هذا هو "المرجع المعياري" أو إطار عمل صنع السياسات الخاص بوزارة البلديات والإسكان (</a:t>
            </a:r>
            <a:r>
              <a:rPr lang="en-US" dirty="0" err="1"/>
              <a:t>MoMaH</a:t>
            </a:r>
            <a:r>
              <a:rPr lang="en-US" dirty="0"/>
              <a:t>). </a:t>
            </a:r>
            <a:r>
              <a:rPr lang="ar-SA" dirty="0"/>
              <a:t>هو يحدد الخطوات المنهجية، والمراحل، والمعايير التي يجب أن تمر بها أي سياسة منذ مرحلة التحديد وحتى الاعتماد والتنفيذ.</a:t>
            </a:r>
          </a:p>
          <a:p>
            <a:pPr lvl="1" algn="r" rtl="1"/>
            <a:r>
              <a:rPr lang="ar-SA" b="1" dirty="0"/>
              <a:t>(</a:t>
            </a:r>
            <a:r>
              <a:rPr lang="en-US" b="1" dirty="0"/>
              <a:t>Policy AI Lab-05-17_4.pdf</a:t>
            </a:r>
            <a:r>
              <a:rPr lang="ar-SA" b="1" dirty="0"/>
              <a:t>)</a:t>
            </a:r>
          </a:p>
          <a:p>
            <a:pPr lvl="2" algn="r" rtl="1"/>
            <a:r>
              <a:rPr lang="ar-SA" dirty="0"/>
              <a:t>هذا الملف هو الجانب المعرفي والتعليمي للمشروع. يشرح "</a:t>
            </a:r>
            <a:r>
              <a:rPr lang="ar-SA" u="sng" dirty="0"/>
              <a:t>كيف يتعلم</a:t>
            </a:r>
            <a:r>
              <a:rPr lang="ar-SA" dirty="0"/>
              <a:t>" المختبر، والمنطق الذي يعمل به الذكاء الاصطناعي في تحليل السياسات، وكيفية تحويل البيانات إلى رؤى (</a:t>
            </a:r>
            <a:r>
              <a:rPr lang="en-US" dirty="0"/>
              <a:t>Insights).</a:t>
            </a:r>
            <a:endParaRPr lang="ar-SA" dirty="0"/>
          </a:p>
          <a:p>
            <a:pPr lvl="1" algn="r" rtl="1"/>
            <a:r>
              <a:rPr lang="en-US" b="1" dirty="0"/>
              <a:t>Policy AI Lab-05-17_4.pdf</a:t>
            </a:r>
            <a:endParaRPr lang="ar-SA" b="1" dirty="0"/>
          </a:p>
          <a:p>
            <a:pPr lvl="2" algn="r" rtl="1"/>
            <a:r>
              <a:rPr lang="ar-SA" dirty="0"/>
              <a:t>هذا الملف هو تقرير مرحلي أو وثيقة تشغيلية خاصة بمختبر السياسات المدعوم بالذكاء الاصطناعي (</a:t>
            </a:r>
            <a:r>
              <a:rPr lang="en-US" dirty="0"/>
              <a:t>Policy AI Lab). </a:t>
            </a:r>
            <a:r>
              <a:rPr lang="ar-SA" dirty="0"/>
              <a:t>يحتوي على تفاصيل التنفيذ، المخرجات التي تمت، أو حالة العمل في تاريخ محدد.</a:t>
            </a:r>
            <a:endParaRPr lang="en-US" dirty="0"/>
          </a:p>
          <a:p>
            <a:pPr lvl="1"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74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960D-E089-BAB1-0EE5-83FFB988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أولا ماهي السياسة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7466-8939-9D47-ABFB-870ED06D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b="1" dirty="0"/>
              <a:t>السياسة (</a:t>
            </a:r>
            <a:r>
              <a:rPr lang="en-US" b="1" dirty="0"/>
              <a:t>Policy</a:t>
            </a:r>
            <a:r>
              <a:rPr lang="ar-SA" b="1" dirty="0"/>
              <a:t>)</a:t>
            </a:r>
            <a:r>
              <a:rPr lang="ar-SA" dirty="0"/>
              <a:t> هي "إطار توجيهي" أو "مجموعة من المبادئ والقواعد" التي تضعها جهة مسؤولة (مثل الوزارة أو الحكومة) لتوجيه اتخاذ القرارات وتحقيق أهداف استراتيجية محددة.</a:t>
            </a:r>
          </a:p>
          <a:p>
            <a:pPr algn="r" rtl="1"/>
            <a:r>
              <a:rPr lang="ar-SA" b="1" dirty="0"/>
              <a:t>السياسة تقع في منطقة وسطى بين "الاستراتيجية" و"اللوائح"</a:t>
            </a:r>
          </a:p>
          <a:p>
            <a:pPr lvl="1" algn="r" rtl="1"/>
            <a:r>
              <a:rPr lang="ar-SA" b="1" dirty="0"/>
              <a:t>الاستراتيجية</a:t>
            </a:r>
            <a:r>
              <a:rPr lang="en-US" dirty="0"/>
              <a:t>:</a:t>
            </a:r>
            <a:r>
              <a:rPr lang="ar-SA" dirty="0"/>
              <a:t> هي التوجه العام، وتحدد الرؤية والأهداف وخارطة الطريق ومؤشرات الأداء (</a:t>
            </a:r>
            <a:r>
              <a:rPr lang="en-US" dirty="0"/>
              <a:t>KPIs)</a:t>
            </a:r>
            <a:endParaRPr lang="ar-SA" dirty="0"/>
          </a:p>
          <a:p>
            <a:pPr lvl="1" algn="r" rtl="1"/>
            <a:r>
              <a:rPr lang="ar-SA" b="1" dirty="0"/>
              <a:t>السياسة</a:t>
            </a:r>
            <a:r>
              <a:rPr lang="ar-SA" dirty="0"/>
              <a:t> (</a:t>
            </a:r>
            <a:r>
              <a:rPr lang="en-US" dirty="0"/>
              <a:t>Policy): </a:t>
            </a:r>
            <a:r>
              <a:rPr lang="ar-SA" dirty="0"/>
              <a:t>هي التي تحول تلك الرؤية الاستراتيجية إلى مبادئ توجيهية ملزمة، وهي وثيقة عالية المستوى تحدد نوايا الحكومة وأولوياتها، ويجب أن تُعتمد من مجلس الوزراء وتُصادق بمرسوم ملكي لتكتسب قوتها القانونية</a:t>
            </a:r>
          </a:p>
          <a:p>
            <a:pPr lvl="1" algn="r" rtl="1"/>
            <a:r>
              <a:rPr lang="ar-SA" b="1" dirty="0"/>
              <a:t>اللوائح</a:t>
            </a:r>
            <a:r>
              <a:rPr lang="ar-SA" dirty="0"/>
              <a:t>: </a:t>
            </a:r>
            <a:r>
              <a:rPr lang="en-US" dirty="0"/>
              <a:t>Regulations</a:t>
            </a:r>
            <a:r>
              <a:rPr lang="ar-SA" dirty="0"/>
              <a:t> هي القواعد التفصيلية والقابلة للتنفيذ التي تترجم السياسة إلى إجراءات محددة وعقوبات لضمان الامتثال</a:t>
            </a:r>
          </a:p>
          <a:p>
            <a:pPr lvl="1" algn="r" rtl="1"/>
            <a:endParaRPr lang="ar-SA" dirty="0"/>
          </a:p>
          <a:p>
            <a:pPr algn="r" rt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472C5-7217-26FE-1382-280A4B36872E}"/>
              </a:ext>
            </a:extLst>
          </p:cNvPr>
          <p:cNvSpPr/>
          <p:nvPr/>
        </p:nvSpPr>
        <p:spPr>
          <a:xfrm>
            <a:off x="1552755" y="5670430"/>
            <a:ext cx="5635924" cy="885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السؤال: اين يقع </a:t>
            </a:r>
            <a:r>
              <a:rPr lang="en-US" dirty="0"/>
              <a:t>policy ai lab</a:t>
            </a:r>
            <a:r>
              <a:rPr lang="ar-SA" dirty="0"/>
              <a:t> من هذا التعريف؟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69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F788-F3A7-4567-8700-0B67CE3E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مثال على سياسة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258B1-CAE1-B0A6-8D95-EAD50355E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8900"/>
          </a:xfrm>
        </p:spPr>
        <p:txBody>
          <a:bodyPr/>
          <a:lstStyle/>
          <a:p>
            <a:pPr algn="r" rtl="1"/>
            <a:r>
              <a:rPr lang="ar-SA" dirty="0"/>
              <a:t>اتخاذ الإجراءات النظامية اللازمة خلال مدة </a:t>
            </a:r>
            <a:r>
              <a:rPr lang="ar-SA" dirty="0" err="1"/>
              <a:t>لاتتجاوز</a:t>
            </a:r>
            <a:r>
              <a:rPr lang="ar-SA" dirty="0"/>
              <a:t> (90) يوماً لضبط العلاقة بين المؤجرين والمستأجرين بما يكفل تحقيق التوازن بين مصالح الأطراف.*</a:t>
            </a:r>
          </a:p>
          <a:p>
            <a:pPr algn="r" rt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DA501-4050-AC47-1E19-88CE8157B4CA}"/>
              </a:ext>
            </a:extLst>
          </p:cNvPr>
          <p:cNvSpPr txBox="1"/>
          <p:nvPr/>
        </p:nvSpPr>
        <p:spPr>
          <a:xfrm>
            <a:off x="7894197" y="6123543"/>
            <a:ext cx="361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A" dirty="0"/>
              <a:t>* </a:t>
            </a:r>
            <a:r>
              <a:rPr lang="en-US" dirty="0"/>
              <a:t>https://www.spa.gov.sa/N2290505</a:t>
            </a:r>
          </a:p>
        </p:txBody>
      </p:sp>
    </p:spTree>
    <p:extLst>
      <p:ext uri="{BB962C8B-B14F-4D97-AF65-F5344CB8AC3E}">
        <p14:creationId xmlns:p14="http://schemas.microsoft.com/office/powerpoint/2010/main" val="98167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24535</TotalTime>
  <Words>328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Policy Ai Lab</vt:lpstr>
      <vt:lpstr>تحديد المهمة المطلوبة</vt:lpstr>
      <vt:lpstr>أولا ماهي السياسة</vt:lpstr>
      <vt:lpstr>مثال على سياسة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alshabanat alshabanat</dc:creator>
  <cp:lastModifiedBy>alshabanat alshabanat</cp:lastModifiedBy>
  <cp:revision>2</cp:revision>
  <dcterms:created xsi:type="dcterms:W3CDTF">2026-07-15T08:29:00Z</dcterms:created>
  <dcterms:modified xsi:type="dcterms:W3CDTF">2026-08-02T06:59:47Z</dcterms:modified>
</cp:coreProperties>
</file>